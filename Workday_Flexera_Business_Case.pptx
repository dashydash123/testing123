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Total workers</c:v>
                </c:pt>
              </c:strCache>
            </c:strRef>
          </c:tx>
          <c:spPr>
            <a:solidFill>
              <a:srgbClr val="F5B335"/>
            </a:solidFill>
            <a:effectLst/>
          </c:spPr>
          <c:invertIfNegative val="0"/>
          <c:dLbls>
            <c:numFmt formatCode="#,##0" sourceLinked="0"/>
            <c:txPr>
              <a:bodyPr/>
              <a:lstStyle/>
              <a:p>
                <a:pPr>
                  <a:defRPr b="0" i="0" strike="noStrike" sz="950" u="none">
                    <a:solidFill>
                      <a:srgbClr val="22242A"/>
                    </a:solidFill>
                    <a:latin typeface="Arial"/>
                  </a:defRPr>
                </a:pPr>
              </a:p>
            </c:txPr>
            <c:showLegendKey val="0"/>
            <c:showVal val="1"/>
            <c:showCatName val="0"/>
            <c:showSerName val="0"/>
            <c:showPercent val="0"/>
            <c:showBubbleSize val="0"/>
            <c:showLeaderLines val="0"/>
          </c:dLbls>
          <c:cat>
            <c:multiLvlStrRef>
              <c:f>Sheet1!$A$2:$A$7</c:f>
              <c:multiLvlStrCache>
                <c:ptCount val="6"/>
                <c:lvl>
                  <c:pt idx="0">
                    <c:v>Baseline</c:v>
                  </c:pt>
                  <c:pt idx="1">
                    <c:v>2025</c:v>
                  </c:pt>
                  <c:pt idx="2">
                    <c:v>2026</c:v>
                  </c:pt>
                  <c:pt idx="3">
                    <c:v>2027E</c:v>
                  </c:pt>
                  <c:pt idx="4">
                    <c:v>2028E</c:v>
                  </c:pt>
                  <c:pt idx="5">
                    <c:v>2029E</c:v>
                  </c:pt>
                </c:lvl>
              </c:multiLvlStrCache>
            </c:multiLvlStrRef>
          </c:cat>
          <c:val>
            <c:numRef>
              <c:f>Sheet1!$B$2:$B$7</c:f>
              <c:numCache>
                <c:formatCode>General</c:formatCode>
                <c:ptCount val="6"/>
                <c:pt idx="0">
                  <c:v>159597</c:v>
                </c:pt>
                <c:pt idx="1">
                  <c:v>133183</c:v>
                </c:pt>
                <c:pt idx="2">
                  <c:v>134457</c:v>
                </c:pt>
                <c:pt idx="3">
                  <c:v>135748</c:v>
                </c:pt>
                <c:pt idx="4">
                  <c:v>137054</c:v>
                </c:pt>
                <c:pt idx="5">
                  <c:v>138373</c:v>
                </c:pt>
              </c:numCache>
            </c:numRef>
          </c:val>
        </c:ser>
        <c:dLbls>
          <c:numFmt formatCode="#,##0" sourceLinked="0"/>
          <c:txPr>
            <a:bodyPr/>
            <a:lstStyle/>
            <a:p>
              <a:pPr>
                <a:defRPr b="0" i="0" strike="noStrike" sz="950" u="none">
                  <a:solidFill>
                    <a:srgbClr val="22242A"/>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22242A"/>
                </a:solidFill>
                <a:latin typeface="Arial"/>
              </a:defRPr>
            </a:pPr>
            <a:endParaRPr lang="en-US"/>
          </a:p>
        </c:txPr>
        <c:crossAx val="2094734552"/>
        <c:crosses val="autoZero"/>
        <c:auto val="1"/>
        <c:lblAlgn val="ctr"/>
        <c:noMultiLvlLbl val="1"/>
      </c:catAx>
      <c:valAx>
        <c:axId val="2094734552"/>
        <c:scaling>
          <c:orientation val="minMax"/>
          <c:max val="170000"/>
          <c:min val="110000"/>
        </c:scaling>
        <c:delete val="0"/>
        <c:axPos val="l"/>
        <c:majorGridlines>
          <c:spPr>
            <a:ln w="9525" cap="flat">
              <a:solidFill>
                <a:srgbClr val="EDEFF1"/>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A5F66"/>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we are not proposing a commercial decision. We are proposing the integration that makes the decision possible. Today SAM has no independent FSE position on an 18.4M contract. Note the corrected savings basis — Section 7 calculates on per-FSE SKU rates, so 10% is ~445K/yr, not 1.84M.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2029 projection uses the observed +0.96% YoY between 2025 and 2026. Even under growth the estate stays well below the contracted baseline, so the reduction headroom persists across the whole Order Term. Key caveat to state aloud: 134,457 is a headcount, not an FSE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11274552" cy="411480"/>
          </a:xfrm>
          <a:prstGeom prst="rect">
            <a:avLst/>
          </a:prstGeom>
          <a:noFill/>
          <a:ln/>
        </p:spPr>
        <p:txBody>
          <a:bodyPr wrap="square" lIns="0" tIns="0" rIns="0" bIns="0" rtlCol="0" anchor="ctr"/>
          <a:lstStyle/>
          <a:p>
            <a:pPr indent="0" marL="0">
              <a:buNone/>
            </a:pPr>
            <a:r>
              <a:rPr lang="en-US" sz="2700" b="1" dirty="0">
                <a:solidFill>
                  <a:srgbClr val="22242A"/>
                </a:solidFill>
                <a:latin typeface="Cambria" pitchFamily="34" charset="0"/>
                <a:ea typeface="Cambria" pitchFamily="34" charset="-122"/>
                <a:cs typeface="Cambria" pitchFamily="34" charset="-120"/>
              </a:rPr>
              <a:t>Workday HCM → Flexera One: the licence-compliance case</a:t>
            </a:r>
            <a:endParaRPr lang="en-US" sz="2700" dirty="0"/>
          </a:p>
        </p:txBody>
      </p:sp>
      <p:sp>
        <p:nvSpPr>
          <p:cNvPr id="3" name="Text 1"/>
          <p:cNvSpPr txBox="1"/>
          <p:nvPr/>
        </p:nvSpPr>
        <p:spPr>
          <a:xfrm>
            <a:off x="457200" y="676656"/>
            <a:ext cx="11274552" cy="274320"/>
          </a:xfrm>
          <a:prstGeom prst="rect">
            <a:avLst/>
          </a:prstGeom>
          <a:noFill/>
          <a:ln/>
        </p:spPr>
        <p:txBody>
          <a:bodyPr wrap="square" lIns="0" tIns="0" rIns="0" bIns="0" rtlCol="0" anchor="ctr"/>
          <a:lstStyle/>
          <a:p>
            <a:pPr indent="0" marL="0">
              <a:buNone/>
            </a:pPr>
            <a:r>
              <a:rPr lang="en-US" sz="1150" i="1" dirty="0">
                <a:solidFill>
                  <a:srgbClr val="5A5F66"/>
                </a:solidFill>
                <a:latin typeface="Calibri" pitchFamily="34" charset="0"/>
                <a:ea typeface="Calibri" pitchFamily="34" charset="-122"/>
                <a:cs typeface="Calibri" pitchFamily="34" charset="-120"/>
              </a:rPr>
              <a:t>USD 18.4M order form · Dec 2024 – Dec 2029 · Baseline 116,299 FSE · Order Form 00484947.0</a:t>
            </a:r>
            <a:endParaRPr lang="en-US" sz="1150" dirty="0"/>
          </a:p>
        </p:txBody>
      </p:sp>
      <p:sp>
        <p:nvSpPr>
          <p:cNvPr id="4" name="Shape 2"/>
          <p:cNvSpPr/>
          <p:nvPr/>
        </p:nvSpPr>
        <p:spPr>
          <a:xfrm>
            <a:off x="457200" y="1078992"/>
            <a:ext cx="2667762" cy="1847088"/>
          </a:xfrm>
          <a:prstGeom prst="roundRect">
            <a:avLst>
              <a:gd name="adj" fmla="val 2970"/>
            </a:avLst>
          </a:prstGeom>
          <a:solidFill>
            <a:srgbClr val="FFFFFF"/>
          </a:solidFill>
          <a:ln w="9525">
            <a:solidFill>
              <a:srgbClr val="D9DCE0"/>
            </a:solidFill>
            <a:prstDash val="solid"/>
          </a:ln>
          <a:effectLst>
            <a:outerShdw sx="100000" sy="100000" kx="0" ky="0" algn="bl" rotWithShape="0" blurRad="76200" dist="381" dir="5400000">
              <a:srgbClr val="000000">
                <a:alpha val="8000"/>
              </a:srgbClr>
            </a:outerShdw>
          </a:effectLst>
        </p:spPr>
      </p:sp>
      <p:sp>
        <p:nvSpPr>
          <p:cNvPr id="5" name="Text 3"/>
          <p:cNvSpPr txBox="1"/>
          <p:nvPr/>
        </p:nvSpPr>
        <p:spPr>
          <a:xfrm>
            <a:off x="621792" y="1207008"/>
            <a:ext cx="2338578" cy="237744"/>
          </a:xfrm>
          <a:prstGeom prst="rect">
            <a:avLst/>
          </a:prstGeom>
          <a:noFill/>
          <a:ln/>
        </p:spPr>
        <p:txBody>
          <a:bodyPr wrap="square" lIns="0" tIns="0" rIns="0" bIns="0" rtlCol="0" anchor="ctr"/>
          <a:lstStyle/>
          <a:p>
            <a:pPr indent="0" marL="0">
              <a:buNone/>
            </a:pPr>
            <a:r>
              <a:rPr lang="en-US" sz="1200" b="1" spc="120" kern="0" dirty="0">
                <a:solidFill>
                  <a:srgbClr val="F5B335"/>
                </a:solidFill>
                <a:latin typeface="Calibri" pitchFamily="34" charset="0"/>
                <a:ea typeface="Calibri" pitchFamily="34" charset="-122"/>
                <a:cs typeface="Calibri" pitchFamily="34" charset="-120"/>
              </a:rPr>
              <a:t>WHAT</a:t>
            </a:r>
            <a:endParaRPr lang="en-US" sz="1200" dirty="0"/>
          </a:p>
        </p:txBody>
      </p:sp>
      <p:sp>
        <p:nvSpPr>
          <p:cNvPr id="6" name="Text 4"/>
          <p:cNvSpPr txBox="1"/>
          <p:nvPr/>
        </p:nvSpPr>
        <p:spPr>
          <a:xfrm>
            <a:off x="621792" y="1490472"/>
            <a:ext cx="2338578" cy="1298448"/>
          </a:xfrm>
          <a:prstGeom prst="rect">
            <a:avLst/>
          </a:prstGeom>
          <a:noFill/>
          <a:ln/>
        </p:spPr>
        <p:txBody>
          <a:bodyPr wrap="square" lIns="0" tIns="0" rIns="0" bIns="0" rtlCol="0" anchor="t"/>
          <a:lstStyle/>
          <a:p>
            <a:pPr indent="0" marL="0">
              <a:lnSpc>
                <a:spcPts val="1400"/>
              </a:lnSpc>
              <a:buNone/>
            </a:pPr>
            <a:r>
              <a:rPr lang="en-US" sz="1050" dirty="0">
                <a:solidFill>
                  <a:srgbClr val="22242A"/>
                </a:solidFill>
                <a:latin typeface="Calibri" pitchFamily="34" charset="0"/>
                <a:ea typeface="Calibri" pitchFamily="34" charset="-122"/>
                <a:cs typeface="Calibri" pitchFamily="34" charset="-120"/>
              </a:rPr>
              <a:t>Integrate Workday HCM worker and organisational data into Flexera One through a scheduled one-way API feed, so every Flexera user and asset record carries a validated worker category, employment status, entity and cost centre.</a:t>
            </a:r>
            <a:endParaRPr lang="en-US" sz="1050" dirty="0"/>
          </a:p>
        </p:txBody>
      </p:sp>
      <p:sp>
        <p:nvSpPr>
          <p:cNvPr id="7" name="Text 5"/>
          <p:cNvSpPr txBox="1"/>
          <p:nvPr/>
        </p:nvSpPr>
        <p:spPr>
          <a:xfrm>
            <a:off x="3124962" y="1856232"/>
            <a:ext cx="201168" cy="292608"/>
          </a:xfrm>
          <a:prstGeom prst="rect">
            <a:avLst/>
          </a:prstGeom>
          <a:noFill/>
          <a:ln/>
        </p:spPr>
        <p:txBody>
          <a:bodyPr wrap="square" lIns="0" tIns="0" rIns="0" bIns="0" rtlCol="0" anchor="ctr"/>
          <a:lstStyle/>
          <a:p>
            <a:pPr algn="ctr" indent="0" marL="0">
              <a:buNone/>
            </a:pPr>
            <a:r>
              <a:rPr lang="en-US" sz="1400" b="1" dirty="0">
                <a:solidFill>
                  <a:srgbClr val="F5B335"/>
                </a:solidFill>
                <a:latin typeface="Calibri" pitchFamily="34" charset="0"/>
                <a:ea typeface="Calibri" pitchFamily="34" charset="-122"/>
                <a:cs typeface="Calibri" pitchFamily="34" charset="-120"/>
              </a:rPr>
              <a:t>→</a:t>
            </a:r>
            <a:endParaRPr lang="en-US" sz="1400" dirty="0"/>
          </a:p>
        </p:txBody>
      </p:sp>
      <p:sp>
        <p:nvSpPr>
          <p:cNvPr id="8" name="Shape 6"/>
          <p:cNvSpPr/>
          <p:nvPr/>
        </p:nvSpPr>
        <p:spPr>
          <a:xfrm>
            <a:off x="3326130" y="1078992"/>
            <a:ext cx="2667762" cy="1847088"/>
          </a:xfrm>
          <a:prstGeom prst="roundRect">
            <a:avLst>
              <a:gd name="adj" fmla="val 2970"/>
            </a:avLst>
          </a:prstGeom>
          <a:solidFill>
            <a:srgbClr val="FFFFFF"/>
          </a:solidFill>
          <a:ln w="9525">
            <a:solidFill>
              <a:srgbClr val="D9DCE0"/>
            </a:solidFill>
            <a:prstDash val="solid"/>
          </a:ln>
          <a:effectLst>
            <a:outerShdw sx="100000" sy="100000" kx="0" ky="0" algn="bl" rotWithShape="0" blurRad="76200" dist="381" dir="5400000">
              <a:srgbClr val="000000">
                <a:alpha val="8000"/>
              </a:srgbClr>
            </a:outerShdw>
          </a:effectLst>
        </p:spPr>
      </p:sp>
      <p:sp>
        <p:nvSpPr>
          <p:cNvPr id="9" name="Text 7"/>
          <p:cNvSpPr txBox="1"/>
          <p:nvPr/>
        </p:nvSpPr>
        <p:spPr>
          <a:xfrm>
            <a:off x="3490722" y="1207008"/>
            <a:ext cx="2338578" cy="237744"/>
          </a:xfrm>
          <a:prstGeom prst="rect">
            <a:avLst/>
          </a:prstGeom>
          <a:noFill/>
          <a:ln/>
        </p:spPr>
        <p:txBody>
          <a:bodyPr wrap="square" lIns="0" tIns="0" rIns="0" bIns="0" rtlCol="0" anchor="ctr"/>
          <a:lstStyle/>
          <a:p>
            <a:pPr indent="0" marL="0">
              <a:buNone/>
            </a:pPr>
            <a:r>
              <a:rPr lang="en-US" sz="1200" b="1" spc="120" kern="0" dirty="0">
                <a:solidFill>
                  <a:srgbClr val="F5B335"/>
                </a:solidFill>
                <a:latin typeface="Calibri" pitchFamily="34" charset="0"/>
                <a:ea typeface="Calibri" pitchFamily="34" charset="-122"/>
                <a:cs typeface="Calibri" pitchFamily="34" charset="-120"/>
              </a:rPr>
              <a:t>WHY</a:t>
            </a:r>
            <a:endParaRPr lang="en-US" sz="1200" dirty="0"/>
          </a:p>
        </p:txBody>
      </p:sp>
      <p:sp>
        <p:nvSpPr>
          <p:cNvPr id="10" name="Text 8"/>
          <p:cNvSpPr txBox="1"/>
          <p:nvPr/>
        </p:nvSpPr>
        <p:spPr>
          <a:xfrm>
            <a:off x="3490722" y="1490472"/>
            <a:ext cx="2338578" cy="1298448"/>
          </a:xfrm>
          <a:prstGeom prst="rect">
            <a:avLst/>
          </a:prstGeom>
          <a:noFill/>
          <a:ln/>
        </p:spPr>
        <p:txBody>
          <a:bodyPr wrap="square" lIns="0" tIns="0" rIns="0" bIns="0" rtlCol="0" anchor="t"/>
          <a:lstStyle/>
          <a:p>
            <a:pPr indent="0" marL="0">
              <a:lnSpc>
                <a:spcPts val="1400"/>
              </a:lnSpc>
              <a:buNone/>
            </a:pPr>
            <a:r>
              <a:rPr lang="en-US" sz="1050" dirty="0">
                <a:solidFill>
                  <a:srgbClr val="22242A"/>
                </a:solidFill>
                <a:latin typeface="Calibri" pitchFamily="34" charset="0"/>
                <a:ea typeface="Calibri" pitchFamily="34" charset="-122"/>
                <a:cs typeface="Calibri" pitchFamily="34" charset="-120"/>
              </a:rPr>
              <a:t>Workday is priced on a Baseline FSE Count of 116,299. SAM cannot compute its own FSE position today, because FSE needs worker-category weightings (100% / 60% / 50% / 30% / 25% / 15%) that exist only inside Workday.</a:t>
            </a:r>
            <a:endParaRPr lang="en-US" sz="1050" dirty="0"/>
          </a:p>
        </p:txBody>
      </p:sp>
      <p:sp>
        <p:nvSpPr>
          <p:cNvPr id="11" name="Text 9"/>
          <p:cNvSpPr txBox="1"/>
          <p:nvPr/>
        </p:nvSpPr>
        <p:spPr>
          <a:xfrm>
            <a:off x="5993892" y="1856232"/>
            <a:ext cx="201168" cy="292608"/>
          </a:xfrm>
          <a:prstGeom prst="rect">
            <a:avLst/>
          </a:prstGeom>
          <a:noFill/>
          <a:ln/>
        </p:spPr>
        <p:txBody>
          <a:bodyPr wrap="square" lIns="0" tIns="0" rIns="0" bIns="0" rtlCol="0" anchor="ctr"/>
          <a:lstStyle/>
          <a:p>
            <a:pPr algn="ctr" indent="0" marL="0">
              <a:buNone/>
            </a:pPr>
            <a:r>
              <a:rPr lang="en-US" sz="1400" b="1" dirty="0">
                <a:solidFill>
                  <a:srgbClr val="F5B335"/>
                </a:solidFill>
                <a:latin typeface="Calibri" pitchFamily="34" charset="0"/>
                <a:ea typeface="Calibri" pitchFamily="34" charset="-122"/>
                <a:cs typeface="Calibri" pitchFamily="34" charset="-120"/>
              </a:rPr>
              <a:t>→</a:t>
            </a:r>
            <a:endParaRPr lang="en-US" sz="1400" dirty="0"/>
          </a:p>
        </p:txBody>
      </p:sp>
      <p:sp>
        <p:nvSpPr>
          <p:cNvPr id="12" name="Shape 10"/>
          <p:cNvSpPr/>
          <p:nvPr/>
        </p:nvSpPr>
        <p:spPr>
          <a:xfrm>
            <a:off x="6195060" y="1078992"/>
            <a:ext cx="2667762" cy="1847088"/>
          </a:xfrm>
          <a:prstGeom prst="roundRect">
            <a:avLst>
              <a:gd name="adj" fmla="val 2970"/>
            </a:avLst>
          </a:prstGeom>
          <a:solidFill>
            <a:srgbClr val="FFFFFF"/>
          </a:solidFill>
          <a:ln w="9525">
            <a:solidFill>
              <a:srgbClr val="D9DCE0"/>
            </a:solidFill>
            <a:prstDash val="solid"/>
          </a:ln>
          <a:effectLst>
            <a:outerShdw sx="100000" sy="100000" kx="0" ky="0" algn="bl" rotWithShape="0" blurRad="76200" dist="381" dir="5400000">
              <a:srgbClr val="000000">
                <a:alpha val="8000"/>
              </a:srgbClr>
            </a:outerShdw>
          </a:effectLst>
        </p:spPr>
      </p:sp>
      <p:sp>
        <p:nvSpPr>
          <p:cNvPr id="13" name="Text 11"/>
          <p:cNvSpPr txBox="1"/>
          <p:nvPr/>
        </p:nvSpPr>
        <p:spPr>
          <a:xfrm>
            <a:off x="6359652" y="1207008"/>
            <a:ext cx="2338578" cy="237744"/>
          </a:xfrm>
          <a:prstGeom prst="rect">
            <a:avLst/>
          </a:prstGeom>
          <a:noFill/>
          <a:ln/>
        </p:spPr>
        <p:txBody>
          <a:bodyPr wrap="square" lIns="0" tIns="0" rIns="0" bIns="0" rtlCol="0" anchor="ctr"/>
          <a:lstStyle/>
          <a:p>
            <a:pPr indent="0" marL="0">
              <a:buNone/>
            </a:pPr>
            <a:r>
              <a:rPr lang="en-US" sz="1200" b="1" spc="120" kern="0" dirty="0">
                <a:solidFill>
                  <a:srgbClr val="F5B335"/>
                </a:solidFill>
                <a:latin typeface="Calibri" pitchFamily="34" charset="0"/>
                <a:ea typeface="Calibri" pitchFamily="34" charset="-122"/>
                <a:cs typeface="Calibri" pitchFamily="34" charset="-120"/>
              </a:rPr>
              <a:t>HOW</a:t>
            </a:r>
            <a:endParaRPr lang="en-US" sz="1200" dirty="0"/>
          </a:p>
        </p:txBody>
      </p:sp>
      <p:sp>
        <p:nvSpPr>
          <p:cNvPr id="14" name="Text 12"/>
          <p:cNvSpPr txBox="1"/>
          <p:nvPr/>
        </p:nvSpPr>
        <p:spPr>
          <a:xfrm>
            <a:off x="6359652" y="1490472"/>
            <a:ext cx="2338578" cy="1298448"/>
          </a:xfrm>
          <a:prstGeom prst="rect">
            <a:avLst/>
          </a:prstGeom>
          <a:noFill/>
          <a:ln/>
        </p:spPr>
        <p:txBody>
          <a:bodyPr wrap="square" lIns="0" tIns="0" rIns="0" bIns="0" rtlCol="0" anchor="t"/>
          <a:lstStyle/>
          <a:p>
            <a:pPr indent="0" marL="0">
              <a:lnSpc>
                <a:spcPts val="1400"/>
              </a:lnSpc>
              <a:buNone/>
            </a:pPr>
            <a:r>
              <a:rPr lang="en-US" sz="1050" dirty="0">
                <a:solidFill>
                  <a:srgbClr val="22242A"/>
                </a:solidFill>
                <a:latin typeface="Calibri" pitchFamily="34" charset="0"/>
                <a:ea typeface="Calibri" pitchFamily="34" charset="-122"/>
                <a:cs typeface="Calibri" pitchFamily="34" charset="-120"/>
              </a:rPr>
              <a:t>Scheduled one-way Workday → Flexera One feed on controlled access and a defined refresh cycle. Flexera already holds ~99% asset coverage and application entitlement; Workday supplies the missing worker dimension.</a:t>
            </a:r>
            <a:endParaRPr lang="en-US" sz="1050" dirty="0"/>
          </a:p>
        </p:txBody>
      </p:sp>
      <p:sp>
        <p:nvSpPr>
          <p:cNvPr id="15" name="Text 13"/>
          <p:cNvSpPr txBox="1"/>
          <p:nvPr/>
        </p:nvSpPr>
        <p:spPr>
          <a:xfrm>
            <a:off x="8862822" y="1856232"/>
            <a:ext cx="201168" cy="292608"/>
          </a:xfrm>
          <a:prstGeom prst="rect">
            <a:avLst/>
          </a:prstGeom>
          <a:noFill/>
          <a:ln/>
        </p:spPr>
        <p:txBody>
          <a:bodyPr wrap="square" lIns="0" tIns="0" rIns="0" bIns="0" rtlCol="0" anchor="ctr"/>
          <a:lstStyle/>
          <a:p>
            <a:pPr algn="ctr" indent="0" marL="0">
              <a:buNone/>
            </a:pPr>
            <a:r>
              <a:rPr lang="en-US" sz="1400" b="1" dirty="0">
                <a:solidFill>
                  <a:srgbClr val="F5B335"/>
                </a:solidFill>
                <a:latin typeface="Calibri" pitchFamily="34" charset="0"/>
                <a:ea typeface="Calibri" pitchFamily="34" charset="-122"/>
                <a:cs typeface="Calibri" pitchFamily="34" charset="-120"/>
              </a:rPr>
              <a:t>→</a:t>
            </a:r>
            <a:endParaRPr lang="en-US" sz="1400" dirty="0"/>
          </a:p>
        </p:txBody>
      </p:sp>
      <p:sp>
        <p:nvSpPr>
          <p:cNvPr id="16" name="Shape 14"/>
          <p:cNvSpPr/>
          <p:nvPr/>
        </p:nvSpPr>
        <p:spPr>
          <a:xfrm>
            <a:off x="9063990" y="1078992"/>
            <a:ext cx="2667762" cy="1847088"/>
          </a:xfrm>
          <a:prstGeom prst="roundRect">
            <a:avLst>
              <a:gd name="adj" fmla="val 2970"/>
            </a:avLst>
          </a:prstGeom>
          <a:solidFill>
            <a:srgbClr val="FDF3DF"/>
          </a:solidFill>
          <a:ln w="9525">
            <a:solidFill>
              <a:srgbClr val="D9DCE0"/>
            </a:solidFill>
            <a:prstDash val="solid"/>
          </a:ln>
          <a:effectLst>
            <a:outerShdw sx="100000" sy="100000" kx="0" ky="0" algn="bl" rotWithShape="0" blurRad="76200" dist="381" dir="5400000">
              <a:srgbClr val="000000">
                <a:alpha val="8000"/>
              </a:srgbClr>
            </a:outerShdw>
          </a:effectLst>
        </p:spPr>
      </p:sp>
      <p:sp>
        <p:nvSpPr>
          <p:cNvPr id="17" name="Text 15"/>
          <p:cNvSpPr txBox="1"/>
          <p:nvPr/>
        </p:nvSpPr>
        <p:spPr>
          <a:xfrm>
            <a:off x="9228582" y="1207008"/>
            <a:ext cx="2338578" cy="237744"/>
          </a:xfrm>
          <a:prstGeom prst="rect">
            <a:avLst/>
          </a:prstGeom>
          <a:noFill/>
          <a:ln/>
        </p:spPr>
        <p:txBody>
          <a:bodyPr wrap="square" lIns="0" tIns="0" rIns="0" bIns="0" rtlCol="0" anchor="ctr"/>
          <a:lstStyle/>
          <a:p>
            <a:pPr indent="0" marL="0">
              <a:buNone/>
            </a:pPr>
            <a:r>
              <a:rPr lang="en-US" sz="1200" b="1" spc="120" kern="0" dirty="0">
                <a:solidFill>
                  <a:srgbClr val="8A5A00"/>
                </a:solidFill>
                <a:latin typeface="Calibri" pitchFamily="34" charset="0"/>
                <a:ea typeface="Calibri" pitchFamily="34" charset="-122"/>
                <a:cs typeface="Calibri" pitchFamily="34" charset="-120"/>
              </a:rPr>
              <a:t>OUTCOME</a:t>
            </a:r>
            <a:endParaRPr lang="en-US" sz="1200" dirty="0"/>
          </a:p>
        </p:txBody>
      </p:sp>
      <p:sp>
        <p:nvSpPr>
          <p:cNvPr id="18" name="Text 16"/>
          <p:cNvSpPr txBox="1"/>
          <p:nvPr/>
        </p:nvSpPr>
        <p:spPr>
          <a:xfrm>
            <a:off x="9228582" y="1490472"/>
            <a:ext cx="2338578" cy="1298448"/>
          </a:xfrm>
          <a:prstGeom prst="rect">
            <a:avLst/>
          </a:prstGeom>
          <a:noFill/>
          <a:ln/>
        </p:spPr>
        <p:txBody>
          <a:bodyPr wrap="square" lIns="0" tIns="0" rIns="0" bIns="0" rtlCol="0" anchor="t"/>
          <a:lstStyle/>
          <a:p>
            <a:pPr indent="0" marL="0">
              <a:lnSpc>
                <a:spcPts val="1400"/>
              </a:lnSpc>
              <a:buNone/>
            </a:pPr>
            <a:r>
              <a:rPr lang="en-US" sz="1050" dirty="0">
                <a:solidFill>
                  <a:srgbClr val="22242A"/>
                </a:solidFill>
                <a:latin typeface="Calibri" pitchFamily="34" charset="0"/>
                <a:ea typeface="Calibri" pitchFamily="34" charset="-122"/>
                <a:cs typeface="Calibri" pitchFamily="34" charset="-120"/>
              </a:rPr>
              <a:t>A maintained Effective Licence Position for Workday, plus one governed worker dataset for user-to-application and user-to-device reconciliation across the Flexera-managed estate.</a:t>
            </a:r>
            <a:endParaRPr lang="en-US" sz="1050" dirty="0"/>
          </a:p>
        </p:txBody>
      </p:sp>
      <p:sp>
        <p:nvSpPr>
          <p:cNvPr id="19" name="Text 17"/>
          <p:cNvSpPr txBox="1"/>
          <p:nvPr/>
        </p:nvSpPr>
        <p:spPr>
          <a:xfrm>
            <a:off x="457200" y="3035808"/>
            <a:ext cx="5486400" cy="274320"/>
          </a:xfrm>
          <a:prstGeom prst="rect">
            <a:avLst/>
          </a:prstGeom>
          <a:noFill/>
          <a:ln/>
        </p:spPr>
        <p:txBody>
          <a:bodyPr wrap="square" lIns="0" tIns="0" rIns="0" bIns="0" rtlCol="0" anchor="ctr"/>
          <a:lstStyle/>
          <a:p>
            <a:pPr indent="0" marL="0">
              <a:buNone/>
            </a:pPr>
            <a:r>
              <a:rPr lang="en-US" sz="1500" b="1" dirty="0">
                <a:solidFill>
                  <a:srgbClr val="22242A"/>
                </a:solidFill>
                <a:latin typeface="Cambria" pitchFamily="34" charset="0"/>
                <a:ea typeface="Cambria" pitchFamily="34" charset="-122"/>
                <a:cs typeface="Cambria" pitchFamily="34" charset="-120"/>
              </a:rPr>
              <a:t>The benefit, two ways</a:t>
            </a:r>
            <a:endParaRPr lang="en-US" sz="1500" dirty="0"/>
          </a:p>
        </p:txBody>
      </p:sp>
      <p:sp>
        <p:nvSpPr>
          <p:cNvPr id="20" name="Shape 18"/>
          <p:cNvSpPr/>
          <p:nvPr/>
        </p:nvSpPr>
        <p:spPr>
          <a:xfrm>
            <a:off x="457200" y="3401568"/>
            <a:ext cx="5486400" cy="2212848"/>
          </a:xfrm>
          <a:prstGeom prst="roundRect">
            <a:avLst>
              <a:gd name="adj" fmla="val 2479"/>
            </a:avLst>
          </a:prstGeom>
          <a:solidFill>
            <a:srgbClr val="FFFFFF"/>
          </a:solidFill>
          <a:ln w="9525">
            <a:solidFill>
              <a:srgbClr val="D9DCE0"/>
            </a:solidFill>
            <a:prstDash val="solid"/>
          </a:ln>
          <a:effectLst>
            <a:outerShdw sx="100000" sy="100000" kx="0" ky="0" algn="bl" rotWithShape="0" blurRad="76200" dist="381" dir="5400000">
              <a:srgbClr val="000000">
                <a:alpha val="8000"/>
              </a:srgbClr>
            </a:outerShdw>
          </a:effectLst>
        </p:spPr>
      </p:sp>
      <p:sp>
        <p:nvSpPr>
          <p:cNvPr id="21" name="Shape 19"/>
          <p:cNvSpPr/>
          <p:nvPr/>
        </p:nvSpPr>
        <p:spPr>
          <a:xfrm>
            <a:off x="6245352" y="3401568"/>
            <a:ext cx="5486400" cy="2212848"/>
          </a:xfrm>
          <a:prstGeom prst="roundRect">
            <a:avLst>
              <a:gd name="adj" fmla="val 2479"/>
            </a:avLst>
          </a:prstGeom>
          <a:solidFill>
            <a:srgbClr val="FFFFFF"/>
          </a:solidFill>
          <a:ln w="9525">
            <a:solidFill>
              <a:srgbClr val="D9DCE0"/>
            </a:solidFill>
            <a:prstDash val="solid"/>
          </a:ln>
          <a:effectLst>
            <a:outerShdw sx="100000" sy="100000" kx="0" ky="0" algn="bl" rotWithShape="0" blurRad="76200" dist="381" dir="5400000">
              <a:srgbClr val="000000">
                <a:alpha val="8000"/>
              </a:srgbClr>
            </a:outerShdw>
          </a:effectLst>
        </p:spPr>
      </p:sp>
      <p:sp>
        <p:nvSpPr>
          <p:cNvPr id="22" name="Text 20"/>
          <p:cNvSpPr txBox="1"/>
          <p:nvPr/>
        </p:nvSpPr>
        <p:spPr>
          <a:xfrm>
            <a:off x="621792" y="3529584"/>
            <a:ext cx="5157216" cy="219456"/>
          </a:xfrm>
          <a:prstGeom prst="rect">
            <a:avLst/>
          </a:prstGeom>
          <a:noFill/>
          <a:ln/>
        </p:spPr>
        <p:txBody>
          <a:bodyPr wrap="square" lIns="0" tIns="0" rIns="0" bIns="0" rtlCol="0" anchor="ctr"/>
          <a:lstStyle/>
          <a:p>
            <a:pPr indent="0" marL="0">
              <a:buNone/>
            </a:pPr>
            <a:r>
              <a:rPr lang="en-US" sz="1150" b="1" spc="120" kern="0" dirty="0">
                <a:solidFill>
                  <a:srgbClr val="F5B335"/>
                </a:solidFill>
                <a:latin typeface="Calibri" pitchFamily="34" charset="0"/>
                <a:ea typeface="Calibri" pitchFamily="34" charset="-122"/>
                <a:cs typeface="Calibri" pitchFamily="34" charset="-120"/>
              </a:rPr>
              <a:t>OPERATIONAL BENEFIT</a:t>
            </a:r>
            <a:endParaRPr lang="en-US" sz="1150" dirty="0"/>
          </a:p>
        </p:txBody>
      </p:sp>
      <p:sp>
        <p:nvSpPr>
          <p:cNvPr id="23" name="Text 21"/>
          <p:cNvSpPr txBox="1"/>
          <p:nvPr/>
        </p:nvSpPr>
        <p:spPr>
          <a:xfrm>
            <a:off x="621792" y="3749040"/>
            <a:ext cx="5157216" cy="201168"/>
          </a:xfrm>
          <a:prstGeom prst="rect">
            <a:avLst/>
          </a:prstGeom>
          <a:noFill/>
          <a:ln/>
        </p:spPr>
        <p:txBody>
          <a:bodyPr wrap="square" lIns="0" tIns="0" rIns="0" bIns="0" rtlCol="0" anchor="ctr"/>
          <a:lstStyle/>
          <a:p>
            <a:pPr indent="0" marL="0">
              <a:buNone/>
            </a:pPr>
            <a:r>
              <a:rPr lang="en-US" sz="1000" i="1" dirty="0">
                <a:solidFill>
                  <a:srgbClr val="5A5F66"/>
                </a:solidFill>
                <a:latin typeface="Calibri" pitchFamily="34" charset="0"/>
                <a:ea typeface="Calibri" pitchFamily="34" charset="-122"/>
                <a:cs typeface="Calibri" pitchFamily="34" charset="-120"/>
              </a:rPr>
              <a:t>What changes for the SAM CoE, day to day</a:t>
            </a:r>
            <a:endParaRPr lang="en-US" sz="1000" dirty="0"/>
          </a:p>
        </p:txBody>
      </p:sp>
      <p:sp>
        <p:nvSpPr>
          <p:cNvPr id="24" name="Text 22"/>
          <p:cNvSpPr txBox="1"/>
          <p:nvPr/>
        </p:nvSpPr>
        <p:spPr>
          <a:xfrm>
            <a:off x="621792" y="4023360"/>
            <a:ext cx="5102352" cy="1435608"/>
          </a:xfrm>
          <a:prstGeom prst="rect">
            <a:avLst/>
          </a:prstGeom>
          <a:noFill/>
          <a:ln/>
        </p:spPr>
        <p:txBody>
          <a:bodyPr wrap="square" lIns="0" tIns="0" rIns="0" bIns="0" rtlCol="0" anchor="t"/>
          <a:lstStyle/>
          <a:p>
            <a:pPr marL="342900" indent="-342900">
              <a:spcAft>
                <a:spcPts val="800"/>
              </a:spcAft>
              <a:buSzPct val="100000"/>
              <a:buChar char="•"/>
            </a:pPr>
            <a:r>
              <a:rPr lang="en-US" sz="1100" dirty="0">
                <a:solidFill>
                  <a:srgbClr val="22242A"/>
                </a:solidFill>
                <a:latin typeface="Calibri" pitchFamily="34" charset="0"/>
                <a:ea typeface="Calibri" pitchFamily="34" charset="-122"/>
                <a:cs typeface="Calibri" pitchFamily="34" charset="-120"/>
              </a:rPr>
              <a:t>Removes the manual Workday HR extracts currently required for M365 licence profiling and SAP user profiling</a:t>
            </a:r>
            <a:endParaRPr lang="en-US" sz="1100" dirty="0"/>
          </a:p>
          <a:p>
            <a:pPr marL="342900" indent="-342900">
              <a:spcAft>
                <a:spcPts val="800"/>
              </a:spcAft>
              <a:buSzPct val="100000"/>
              <a:buChar char="•"/>
            </a:pPr>
            <a:r>
              <a:rPr lang="en-US" sz="1100" dirty="0">
                <a:solidFill>
                  <a:srgbClr val="22242A"/>
                </a:solidFill>
                <a:latin typeface="Calibri" pitchFamily="34" charset="0"/>
                <a:ea typeface="Calibri" pitchFamily="34" charset="-122"/>
                <a:cs typeface="Calibri" pitchFamily="34" charset="-120"/>
              </a:rPr>
              <a:t>One governed worker dataset for asset-to-user mapping inside Flexera One, replacing per-application reconciliation</a:t>
            </a:r>
            <a:endParaRPr lang="en-US" sz="1100" dirty="0"/>
          </a:p>
          <a:p>
            <a:pPr marL="342900" indent="-342900">
              <a:spcAft>
                <a:spcPts val="800"/>
              </a:spcAft>
              <a:buSzPct val="100000"/>
              <a:buChar char="•"/>
            </a:pPr>
            <a:r>
              <a:rPr lang="en-US" sz="1100" dirty="0">
                <a:solidFill>
                  <a:srgbClr val="22242A"/>
                </a:solidFill>
                <a:latin typeface="Calibri" pitchFamily="34" charset="0"/>
                <a:ea typeface="Calibri" pitchFamily="34" charset="-122"/>
                <a:cs typeface="Calibri" pitchFamily="34" charset="-120"/>
              </a:rPr>
              <a:t>Enables FSE calculation by worker category — the input we do not hold today for the annual reporting obligation</a:t>
            </a:r>
            <a:endParaRPr lang="en-US" sz="1100" dirty="0"/>
          </a:p>
        </p:txBody>
      </p:sp>
      <p:sp>
        <p:nvSpPr>
          <p:cNvPr id="25" name="Text 23"/>
          <p:cNvSpPr txBox="1"/>
          <p:nvPr/>
        </p:nvSpPr>
        <p:spPr>
          <a:xfrm>
            <a:off x="6409944" y="3529584"/>
            <a:ext cx="5157216" cy="219456"/>
          </a:xfrm>
          <a:prstGeom prst="rect">
            <a:avLst/>
          </a:prstGeom>
          <a:noFill/>
          <a:ln/>
        </p:spPr>
        <p:txBody>
          <a:bodyPr wrap="square" lIns="0" tIns="0" rIns="0" bIns="0" rtlCol="0" anchor="ctr"/>
          <a:lstStyle/>
          <a:p>
            <a:pPr indent="0" marL="0">
              <a:buNone/>
            </a:pPr>
            <a:r>
              <a:rPr lang="en-US" sz="1150" b="1" spc="120" kern="0" dirty="0">
                <a:solidFill>
                  <a:srgbClr val="F5B335"/>
                </a:solidFill>
                <a:latin typeface="Calibri" pitchFamily="34" charset="0"/>
                <a:ea typeface="Calibri" pitchFamily="34" charset="-122"/>
                <a:cs typeface="Calibri" pitchFamily="34" charset="-120"/>
              </a:rPr>
              <a:t>ORGANIZATIONAL BENEFIT</a:t>
            </a:r>
            <a:endParaRPr lang="en-US" sz="1150" dirty="0"/>
          </a:p>
        </p:txBody>
      </p:sp>
      <p:sp>
        <p:nvSpPr>
          <p:cNvPr id="26" name="Text 24"/>
          <p:cNvSpPr txBox="1"/>
          <p:nvPr/>
        </p:nvSpPr>
        <p:spPr>
          <a:xfrm>
            <a:off x="6409944" y="3749040"/>
            <a:ext cx="5157216" cy="201168"/>
          </a:xfrm>
          <a:prstGeom prst="rect">
            <a:avLst/>
          </a:prstGeom>
          <a:noFill/>
          <a:ln/>
        </p:spPr>
        <p:txBody>
          <a:bodyPr wrap="square" lIns="0" tIns="0" rIns="0" bIns="0" rtlCol="0" anchor="ctr"/>
          <a:lstStyle/>
          <a:p>
            <a:pPr indent="0" marL="0">
              <a:buNone/>
            </a:pPr>
            <a:r>
              <a:rPr lang="en-US" sz="1000" i="1" dirty="0">
                <a:solidFill>
                  <a:srgbClr val="5A5F66"/>
                </a:solidFill>
                <a:latin typeface="Calibri" pitchFamily="34" charset="0"/>
                <a:ea typeface="Calibri" pitchFamily="34" charset="-122"/>
                <a:cs typeface="Calibri" pitchFamily="34" charset="-120"/>
              </a:rPr>
              <a:t>What changes for AB InBev, across the estate</a:t>
            </a:r>
            <a:endParaRPr lang="en-US" sz="1000" dirty="0"/>
          </a:p>
        </p:txBody>
      </p:sp>
      <p:sp>
        <p:nvSpPr>
          <p:cNvPr id="27" name="Text 25"/>
          <p:cNvSpPr txBox="1"/>
          <p:nvPr/>
        </p:nvSpPr>
        <p:spPr>
          <a:xfrm>
            <a:off x="6409944" y="4023360"/>
            <a:ext cx="5102352" cy="1435608"/>
          </a:xfrm>
          <a:prstGeom prst="rect">
            <a:avLst/>
          </a:prstGeom>
          <a:noFill/>
          <a:ln/>
        </p:spPr>
        <p:txBody>
          <a:bodyPr wrap="square" lIns="0" tIns="0" rIns="0" bIns="0" rtlCol="0" anchor="t"/>
          <a:lstStyle/>
          <a:p>
            <a:pPr marL="342900" indent="-342900">
              <a:spcAft>
                <a:spcPts val="800"/>
              </a:spcAft>
              <a:buSzPct val="100000"/>
              <a:buChar char="•"/>
            </a:pPr>
            <a:r>
              <a:rPr lang="en-US" sz="1100" dirty="0">
                <a:solidFill>
                  <a:srgbClr val="22242A"/>
                </a:solidFill>
                <a:latin typeface="Calibri" pitchFamily="34" charset="0"/>
                <a:ea typeface="Calibri" pitchFamily="34" charset="-122"/>
                <a:cs typeface="Calibri" pitchFamily="34" charset="-120"/>
              </a:rPr>
              <a:t>Establishes ELP coverage for an 18.4M USD contract that has no independent licence position today</a:t>
            </a:r>
            <a:endParaRPr lang="en-US" sz="1100" dirty="0"/>
          </a:p>
          <a:p>
            <a:pPr marL="342900" indent="-342900">
              <a:spcAft>
                <a:spcPts val="800"/>
              </a:spcAft>
              <a:buSzPct val="100000"/>
              <a:buChar char="•"/>
            </a:pPr>
            <a:r>
              <a:rPr lang="en-US" sz="1100" dirty="0">
                <a:solidFill>
                  <a:srgbClr val="22242A"/>
                </a:solidFill>
                <a:latin typeface="Calibri" pitchFamily="34" charset="0"/>
                <a:ea typeface="Calibri" pitchFamily="34" charset="-122"/>
                <a:cs typeface="Calibri" pitchFamily="34" charset="-120"/>
              </a:rPr>
              <a:t>Supports the Section 7 fee-reduction right ahead of the December 2026 annual reporting deadline</a:t>
            </a:r>
            <a:endParaRPr lang="en-US" sz="1100" dirty="0"/>
          </a:p>
          <a:p>
            <a:pPr marL="342900" indent="-342900">
              <a:spcAft>
                <a:spcPts val="800"/>
              </a:spcAft>
              <a:buSzPct val="100000"/>
              <a:buChar char="•"/>
            </a:pPr>
            <a:r>
              <a:rPr lang="en-US" sz="1100" dirty="0">
                <a:solidFill>
                  <a:srgbClr val="22242A"/>
                </a:solidFill>
                <a:latin typeface="Calibri" pitchFamily="34" charset="0"/>
                <a:ea typeface="Calibri" pitchFamily="34" charset="-122"/>
                <a:cs typeface="Calibri" pitchFamily="34" charset="-120"/>
              </a:rPr>
              <a:t>Licence position by zone and by worker type — permanent vs labour/service vs contingent — across Flexera-managed SaaS</a:t>
            </a:r>
            <a:endParaRPr lang="en-US" sz="1100" dirty="0"/>
          </a:p>
          <a:p>
            <a:pPr marL="342900" indent="-342900">
              <a:spcAft>
                <a:spcPts val="800"/>
              </a:spcAft>
              <a:buSzPct val="100000"/>
              <a:buChar char="•"/>
            </a:pPr>
            <a:r>
              <a:rPr lang="en-US" sz="1100" dirty="0">
                <a:solidFill>
                  <a:srgbClr val="22242A"/>
                </a:solidFill>
                <a:latin typeface="Calibri" pitchFamily="34" charset="0"/>
                <a:ea typeface="Calibri" pitchFamily="34" charset="-122"/>
                <a:cs typeface="Calibri" pitchFamily="34" charset="-120"/>
              </a:rPr>
              <a:t>Delivers a Tier-1 enterprise application against the SAM CoE onboarding target</a:t>
            </a:r>
            <a:endParaRPr lang="en-US" sz="1100" dirty="0"/>
          </a:p>
        </p:txBody>
      </p:sp>
      <p:sp>
        <p:nvSpPr>
          <p:cNvPr id="28" name="Shape 26"/>
          <p:cNvSpPr/>
          <p:nvPr/>
        </p:nvSpPr>
        <p:spPr>
          <a:xfrm>
            <a:off x="457200" y="5779008"/>
            <a:ext cx="11274552" cy="713232"/>
          </a:xfrm>
          <a:prstGeom prst="roundRect">
            <a:avLst>
              <a:gd name="adj" fmla="val 7692"/>
            </a:avLst>
          </a:prstGeom>
          <a:solidFill>
            <a:srgbClr val="FDF3DF"/>
          </a:solidFill>
          <a:ln w="9525">
            <a:solidFill>
              <a:srgbClr val="D9DCE0"/>
            </a:solidFill>
            <a:prstDash val="solid"/>
          </a:ln>
          <a:effectLst>
            <a:outerShdw sx="100000" sy="100000" kx="0" ky="0" algn="bl" rotWithShape="0" blurRad="76200" dist="381" dir="5400000">
              <a:srgbClr val="000000">
                <a:alpha val="8000"/>
              </a:srgbClr>
            </a:outerShdw>
          </a:effectLst>
        </p:spPr>
      </p:sp>
      <p:sp>
        <p:nvSpPr>
          <p:cNvPr id="29" name="Text 27"/>
          <p:cNvSpPr txBox="1"/>
          <p:nvPr/>
        </p:nvSpPr>
        <p:spPr>
          <a:xfrm>
            <a:off x="640080" y="5870448"/>
            <a:ext cx="10908792" cy="548640"/>
          </a:xfrm>
          <a:prstGeom prst="rect">
            <a:avLst/>
          </a:prstGeom>
          <a:noFill/>
          <a:ln/>
        </p:spPr>
        <p:txBody>
          <a:bodyPr wrap="square" lIns="0" tIns="0" rIns="0" bIns="0" rtlCol="0" anchor="t"/>
          <a:lstStyle/>
          <a:p>
            <a:pPr indent="0" marL="0">
              <a:lnSpc>
                <a:spcPts val="1200"/>
              </a:lnSpc>
              <a:buNone/>
            </a:pPr>
            <a:r>
              <a:rPr lang="en-US" sz="950" b="1" dirty="0">
                <a:solidFill>
                  <a:srgbClr val="4A3B18"/>
                </a:solidFill>
                <a:latin typeface="Calibri" pitchFamily="34" charset="0"/>
                <a:ea typeface="Calibri" pitchFamily="34" charset="-122"/>
                <a:cs typeface="Calibri" pitchFamily="34" charset="-120"/>
              </a:rPr>
              <a:t>Contractual basis:  </a:t>
            </a:r>
            <a:pPr indent="0" marL="0">
              <a:lnSpc>
                <a:spcPts val="1200"/>
              </a:lnSpc>
              <a:buNone/>
            </a:pPr>
            <a:r>
              <a:rPr lang="en-US" sz="950" dirty="0">
                <a:solidFill>
                  <a:srgbClr val="4A3B18"/>
                </a:solidFill>
                <a:latin typeface="Calibri" pitchFamily="34" charset="0"/>
                <a:ea typeface="Calibri" pitchFamily="34" charset="-122"/>
                <a:cs typeface="Calibri" pitchFamily="34" charset="-120"/>
              </a:rPr>
              <a:t>Order Form 00484947.0, Section 7 permits a requested fee decrease of up to 5% per year, capped at 10% cumulatively over the Order Term, calculated on the per-FSE SKU rates (~USD 4.45M/yr at baseline) — not on total contract value. Reported total workers of 134,457 (2026) sit ~15.8% below the contracted 159,597, indicating headroom beyond the cap. Indicative value ≈ USD 1.1M over the remaining term, subject to worker-category validation and to notice being served 30 days before the anniversary of the Order Term start date.</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11274552" cy="411480"/>
          </a:xfrm>
          <a:prstGeom prst="rect">
            <a:avLst/>
          </a:prstGeom>
          <a:noFill/>
          <a:ln/>
        </p:spPr>
        <p:txBody>
          <a:bodyPr wrap="square" lIns="0" tIns="0" rIns="0" bIns="0" rtlCol="0" anchor="ctr"/>
          <a:lstStyle/>
          <a:p>
            <a:pPr indent="0" marL="0">
              <a:buNone/>
            </a:pPr>
            <a:r>
              <a:rPr lang="en-US" sz="2500" b="1" dirty="0">
                <a:solidFill>
                  <a:srgbClr val="22242A"/>
                </a:solidFill>
                <a:latin typeface="Cambria" pitchFamily="34" charset="0"/>
                <a:ea typeface="Cambria" pitchFamily="34" charset="-122"/>
                <a:cs typeface="Cambria" pitchFamily="34" charset="-120"/>
              </a:rPr>
              <a:t>The data behind it: contracted baseline vs actual deployment</a:t>
            </a:r>
            <a:endParaRPr lang="en-US" sz="2500" dirty="0"/>
          </a:p>
        </p:txBody>
      </p:sp>
      <p:sp>
        <p:nvSpPr>
          <p:cNvPr id="3" name="Text 1"/>
          <p:cNvSpPr txBox="1"/>
          <p:nvPr/>
        </p:nvSpPr>
        <p:spPr>
          <a:xfrm>
            <a:off x="457200" y="658368"/>
            <a:ext cx="11274552" cy="274320"/>
          </a:xfrm>
          <a:prstGeom prst="rect">
            <a:avLst/>
          </a:prstGeom>
          <a:noFill/>
          <a:ln/>
        </p:spPr>
        <p:txBody>
          <a:bodyPr wrap="square" lIns="0" tIns="0" rIns="0" bIns="0" rtlCol="0" anchor="ctr"/>
          <a:lstStyle/>
          <a:p>
            <a:pPr indent="0" marL="0">
              <a:buNone/>
            </a:pPr>
            <a:r>
              <a:rPr lang="en-US" sz="1150" i="1" dirty="0">
                <a:solidFill>
                  <a:srgbClr val="5A5F66"/>
                </a:solidFill>
                <a:latin typeface="Calibri" pitchFamily="34" charset="0"/>
                <a:ea typeface="Calibri" pitchFamily="34" charset="-122"/>
                <a:cs typeface="Calibri" pitchFamily="34" charset="-120"/>
              </a:rPr>
              <a:t>Workday total worker count — contracted baseline, reported actuals and trend projection at the observed +0.96% YoY</a:t>
            </a:r>
            <a:endParaRPr lang="en-US" sz="1150" dirty="0"/>
          </a:p>
        </p:txBody>
      </p:sp>
      <p:sp>
        <p:nvSpPr>
          <p:cNvPr id="4" name="Shape 2"/>
          <p:cNvSpPr/>
          <p:nvPr/>
        </p:nvSpPr>
        <p:spPr>
          <a:xfrm>
            <a:off x="457200" y="1024128"/>
            <a:ext cx="6675120" cy="3977640"/>
          </a:xfrm>
          <a:prstGeom prst="roundRect">
            <a:avLst>
              <a:gd name="adj" fmla="val 1379"/>
            </a:avLst>
          </a:prstGeom>
          <a:solidFill>
            <a:srgbClr val="FFFFFF"/>
          </a:solidFill>
          <a:ln w="9525">
            <a:solidFill>
              <a:srgbClr val="D9DCE0"/>
            </a:solidFill>
            <a:prstDash val="solid"/>
          </a:ln>
          <a:effectLst>
            <a:outerShdw sx="100000" sy="100000" kx="0" ky="0" algn="bl" rotWithShape="0" blurRad="76200" dist="381" dir="5400000">
              <a:srgbClr val="000000">
                <a:alpha val="8000"/>
              </a:srgbClr>
            </a:outerShdw>
          </a:effectLst>
        </p:spPr>
      </p:sp>
      <p:graphicFrame>
        <p:nvGraphicFramePr>
          <p:cNvPr id="5" name="Chart 0" descr=""/>
          <p:cNvGraphicFramePr/>
          <p:nvPr/>
        </p:nvGraphicFramePr>
        <p:xfrm>
          <a:off x="566928" y="1133856"/>
          <a:ext cx="6455664" cy="3758184"/>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333488" y="1024128"/>
            <a:ext cx="4398264" cy="923544"/>
          </a:xfrm>
          <a:prstGeom prst="roundRect">
            <a:avLst>
              <a:gd name="adj" fmla="val 5941"/>
            </a:avLst>
          </a:prstGeom>
          <a:solidFill>
            <a:srgbClr val="FDF3DF"/>
          </a:solidFill>
          <a:ln w="9525">
            <a:solidFill>
              <a:srgbClr val="D9DCE0"/>
            </a:solidFill>
            <a:prstDash val="solid"/>
          </a:ln>
          <a:effectLst>
            <a:outerShdw sx="100000" sy="100000" kx="0" ky="0" algn="bl" rotWithShape="0" blurRad="76200" dist="381" dir="5400000">
              <a:srgbClr val="000000">
                <a:alpha val="8000"/>
              </a:srgbClr>
            </a:outerShdw>
          </a:effectLst>
        </p:spPr>
      </p:sp>
      <p:sp>
        <p:nvSpPr>
          <p:cNvPr id="7" name="Text 4"/>
          <p:cNvSpPr txBox="1"/>
          <p:nvPr/>
        </p:nvSpPr>
        <p:spPr>
          <a:xfrm>
            <a:off x="7516368" y="1115568"/>
            <a:ext cx="1691640" cy="384048"/>
          </a:xfrm>
          <a:prstGeom prst="rect">
            <a:avLst/>
          </a:prstGeom>
          <a:noFill/>
          <a:ln/>
        </p:spPr>
        <p:txBody>
          <a:bodyPr wrap="square" lIns="0" tIns="0" rIns="0" bIns="0" rtlCol="0" anchor="ctr"/>
          <a:lstStyle/>
          <a:p>
            <a:pPr indent="0" marL="0">
              <a:buNone/>
            </a:pPr>
            <a:r>
              <a:rPr lang="en-US" sz="2100" b="1" dirty="0">
                <a:solidFill>
                  <a:srgbClr val="8A5A00"/>
                </a:solidFill>
                <a:latin typeface="Cambria" pitchFamily="34" charset="0"/>
                <a:ea typeface="Cambria" pitchFamily="34" charset="-122"/>
                <a:cs typeface="Cambria" pitchFamily="34" charset="-120"/>
              </a:rPr>
              <a:t>~15.8%</a:t>
            </a:r>
            <a:endParaRPr lang="en-US" sz="2100" dirty="0"/>
          </a:p>
        </p:txBody>
      </p:sp>
      <p:sp>
        <p:nvSpPr>
          <p:cNvPr id="8" name="Text 5"/>
          <p:cNvSpPr txBox="1"/>
          <p:nvPr/>
        </p:nvSpPr>
        <p:spPr>
          <a:xfrm>
            <a:off x="7516368" y="1481328"/>
            <a:ext cx="4032504" cy="411480"/>
          </a:xfrm>
          <a:prstGeom prst="rect">
            <a:avLst/>
          </a:prstGeom>
          <a:noFill/>
          <a:ln/>
        </p:spPr>
        <p:txBody>
          <a:bodyPr wrap="square" lIns="0" tIns="0" rIns="0" bIns="0" rtlCol="0" anchor="t"/>
          <a:lstStyle/>
          <a:p>
            <a:pPr indent="0" marL="0">
              <a:lnSpc>
                <a:spcPts val="1100"/>
              </a:lnSpc>
              <a:buNone/>
            </a:pPr>
            <a:r>
              <a:rPr lang="en-US" sz="950" dirty="0">
                <a:solidFill>
                  <a:srgbClr val="6B5313"/>
                </a:solidFill>
                <a:latin typeface="Calibri" pitchFamily="34" charset="0"/>
                <a:ea typeface="Calibri" pitchFamily="34" charset="-122"/>
                <a:cs typeface="Calibri" pitchFamily="34" charset="-120"/>
              </a:rPr>
              <a:t>Gap between contracted baseline (159,597) and 2026 actual (134,457) — wider than the 10% contractual cap</a:t>
            </a:r>
            <a:endParaRPr lang="en-US" sz="950" dirty="0"/>
          </a:p>
        </p:txBody>
      </p:sp>
      <p:sp>
        <p:nvSpPr>
          <p:cNvPr id="9" name="Shape 6"/>
          <p:cNvSpPr/>
          <p:nvPr/>
        </p:nvSpPr>
        <p:spPr>
          <a:xfrm>
            <a:off x="7333488" y="2039112"/>
            <a:ext cx="4398264" cy="923544"/>
          </a:xfrm>
          <a:prstGeom prst="roundRect">
            <a:avLst>
              <a:gd name="adj" fmla="val 5941"/>
            </a:avLst>
          </a:prstGeom>
          <a:solidFill>
            <a:srgbClr val="FFFFFF"/>
          </a:solidFill>
          <a:ln w="9525">
            <a:solidFill>
              <a:srgbClr val="D9DCE0"/>
            </a:solidFill>
            <a:prstDash val="solid"/>
          </a:ln>
          <a:effectLst>
            <a:outerShdw sx="100000" sy="100000" kx="0" ky="0" algn="bl" rotWithShape="0" blurRad="76200" dist="381" dir="5400000">
              <a:srgbClr val="000000">
                <a:alpha val="8000"/>
              </a:srgbClr>
            </a:outerShdw>
          </a:effectLst>
        </p:spPr>
      </p:sp>
      <p:sp>
        <p:nvSpPr>
          <p:cNvPr id="10" name="Text 7"/>
          <p:cNvSpPr txBox="1"/>
          <p:nvPr/>
        </p:nvSpPr>
        <p:spPr>
          <a:xfrm>
            <a:off x="7516368" y="2130552"/>
            <a:ext cx="1691640" cy="384048"/>
          </a:xfrm>
          <a:prstGeom prst="rect">
            <a:avLst/>
          </a:prstGeom>
          <a:noFill/>
          <a:ln/>
        </p:spPr>
        <p:txBody>
          <a:bodyPr wrap="square" lIns="0" tIns="0" rIns="0" bIns="0" rtlCol="0" anchor="ctr"/>
          <a:lstStyle/>
          <a:p>
            <a:pPr indent="0" marL="0">
              <a:buNone/>
            </a:pPr>
            <a:r>
              <a:rPr lang="en-US" sz="2100" b="1" dirty="0">
                <a:solidFill>
                  <a:srgbClr val="22242A"/>
                </a:solidFill>
                <a:latin typeface="Cambria" pitchFamily="34" charset="0"/>
                <a:ea typeface="Cambria" pitchFamily="34" charset="-122"/>
                <a:cs typeface="Cambria" pitchFamily="34" charset="-120"/>
              </a:rPr>
              <a:t>~USD 445K</a:t>
            </a:r>
            <a:endParaRPr lang="en-US" sz="2100" dirty="0"/>
          </a:p>
        </p:txBody>
      </p:sp>
      <p:sp>
        <p:nvSpPr>
          <p:cNvPr id="11" name="Text 8"/>
          <p:cNvSpPr txBox="1"/>
          <p:nvPr/>
        </p:nvSpPr>
        <p:spPr>
          <a:xfrm>
            <a:off x="7516368" y="2496312"/>
            <a:ext cx="4032504" cy="411480"/>
          </a:xfrm>
          <a:prstGeom prst="rect">
            <a:avLst/>
          </a:prstGeom>
          <a:noFill/>
          <a:ln/>
        </p:spPr>
        <p:txBody>
          <a:bodyPr wrap="square" lIns="0" tIns="0" rIns="0" bIns="0" rtlCol="0" anchor="t"/>
          <a:lstStyle/>
          <a:p>
            <a:pPr indent="0" marL="0">
              <a:lnSpc>
                <a:spcPts val="1100"/>
              </a:lnSpc>
              <a:buNone/>
            </a:pPr>
            <a:r>
              <a:rPr lang="en-US" sz="950" dirty="0">
                <a:solidFill>
                  <a:srgbClr val="5A5F66"/>
                </a:solidFill>
                <a:latin typeface="Calibri" pitchFamily="34" charset="0"/>
                <a:ea typeface="Calibri" pitchFamily="34" charset="-122"/>
                <a:cs typeface="Calibri" pitchFamily="34" charset="-120"/>
              </a:rPr>
              <a:t>Annual fee reduction at the full 10% FSE decrease, on per-FSE SKU rates of ~USD 4.45M/yr</a:t>
            </a:r>
            <a:endParaRPr lang="en-US" sz="950" dirty="0"/>
          </a:p>
        </p:txBody>
      </p:sp>
      <p:sp>
        <p:nvSpPr>
          <p:cNvPr id="12" name="Shape 9"/>
          <p:cNvSpPr/>
          <p:nvPr/>
        </p:nvSpPr>
        <p:spPr>
          <a:xfrm>
            <a:off x="7333488" y="3054096"/>
            <a:ext cx="4398264" cy="923544"/>
          </a:xfrm>
          <a:prstGeom prst="roundRect">
            <a:avLst>
              <a:gd name="adj" fmla="val 5941"/>
            </a:avLst>
          </a:prstGeom>
          <a:solidFill>
            <a:srgbClr val="FFFFFF"/>
          </a:solidFill>
          <a:ln w="9525">
            <a:solidFill>
              <a:srgbClr val="D9DCE0"/>
            </a:solidFill>
            <a:prstDash val="solid"/>
          </a:ln>
          <a:effectLst>
            <a:outerShdw sx="100000" sy="100000" kx="0" ky="0" algn="bl" rotWithShape="0" blurRad="76200" dist="381" dir="5400000">
              <a:srgbClr val="000000">
                <a:alpha val="8000"/>
              </a:srgbClr>
            </a:outerShdw>
          </a:effectLst>
        </p:spPr>
      </p:sp>
      <p:sp>
        <p:nvSpPr>
          <p:cNvPr id="13" name="Text 10"/>
          <p:cNvSpPr txBox="1"/>
          <p:nvPr/>
        </p:nvSpPr>
        <p:spPr>
          <a:xfrm>
            <a:off x="7516368" y="3145536"/>
            <a:ext cx="1691640" cy="384048"/>
          </a:xfrm>
          <a:prstGeom prst="rect">
            <a:avLst/>
          </a:prstGeom>
          <a:noFill/>
          <a:ln/>
        </p:spPr>
        <p:txBody>
          <a:bodyPr wrap="square" lIns="0" tIns="0" rIns="0" bIns="0" rtlCol="0" anchor="ctr"/>
          <a:lstStyle/>
          <a:p>
            <a:pPr indent="0" marL="0">
              <a:buNone/>
            </a:pPr>
            <a:r>
              <a:rPr lang="en-US" sz="2100" b="1" dirty="0">
                <a:solidFill>
                  <a:srgbClr val="22242A"/>
                </a:solidFill>
                <a:latin typeface="Cambria" pitchFamily="34" charset="0"/>
                <a:ea typeface="Cambria" pitchFamily="34" charset="-122"/>
                <a:cs typeface="Cambria" pitchFamily="34" charset="-120"/>
              </a:rPr>
              <a:t>~USD 1.1M</a:t>
            </a:r>
            <a:endParaRPr lang="en-US" sz="2100" dirty="0"/>
          </a:p>
        </p:txBody>
      </p:sp>
      <p:sp>
        <p:nvSpPr>
          <p:cNvPr id="14" name="Text 11"/>
          <p:cNvSpPr txBox="1"/>
          <p:nvPr/>
        </p:nvSpPr>
        <p:spPr>
          <a:xfrm>
            <a:off x="7516368" y="3511296"/>
            <a:ext cx="4032504" cy="411480"/>
          </a:xfrm>
          <a:prstGeom prst="rect">
            <a:avLst/>
          </a:prstGeom>
          <a:noFill/>
          <a:ln/>
        </p:spPr>
        <p:txBody>
          <a:bodyPr wrap="square" lIns="0" tIns="0" rIns="0" bIns="0" rtlCol="0" anchor="t"/>
          <a:lstStyle/>
          <a:p>
            <a:pPr indent="0" marL="0">
              <a:lnSpc>
                <a:spcPts val="1100"/>
              </a:lnSpc>
              <a:buNone/>
            </a:pPr>
            <a:r>
              <a:rPr lang="en-US" sz="950" dirty="0">
                <a:solidFill>
                  <a:srgbClr val="5A5F66"/>
                </a:solidFill>
                <a:latin typeface="Calibri" pitchFamily="34" charset="0"/>
                <a:ea typeface="Calibri" pitchFamily="34" charset="-122"/>
                <a:cs typeface="Calibri" pitchFamily="34" charset="-120"/>
              </a:rPr>
              <a:t>Indicative value over the remaining term: 5% claimed at Dec-2026 plus a further 5% at Dec-2027</a:t>
            </a:r>
            <a:endParaRPr lang="en-US" sz="950" dirty="0"/>
          </a:p>
        </p:txBody>
      </p:sp>
      <p:sp>
        <p:nvSpPr>
          <p:cNvPr id="15" name="Shape 12"/>
          <p:cNvSpPr/>
          <p:nvPr/>
        </p:nvSpPr>
        <p:spPr>
          <a:xfrm>
            <a:off x="7333488" y="4069080"/>
            <a:ext cx="4398264" cy="923544"/>
          </a:xfrm>
          <a:prstGeom prst="roundRect">
            <a:avLst>
              <a:gd name="adj" fmla="val 5941"/>
            </a:avLst>
          </a:prstGeom>
          <a:solidFill>
            <a:srgbClr val="FFFFFF"/>
          </a:solidFill>
          <a:ln w="9525">
            <a:solidFill>
              <a:srgbClr val="D9DCE0"/>
            </a:solidFill>
            <a:prstDash val="solid"/>
          </a:ln>
          <a:effectLst>
            <a:outerShdw sx="100000" sy="100000" kx="0" ky="0" algn="bl" rotWithShape="0" blurRad="76200" dist="381" dir="5400000">
              <a:srgbClr val="000000">
                <a:alpha val="8000"/>
              </a:srgbClr>
            </a:outerShdw>
          </a:effectLst>
        </p:spPr>
      </p:sp>
      <p:sp>
        <p:nvSpPr>
          <p:cNvPr id="16" name="Text 13"/>
          <p:cNvSpPr txBox="1"/>
          <p:nvPr/>
        </p:nvSpPr>
        <p:spPr>
          <a:xfrm>
            <a:off x="7516368" y="4160520"/>
            <a:ext cx="1691640" cy="384048"/>
          </a:xfrm>
          <a:prstGeom prst="rect">
            <a:avLst/>
          </a:prstGeom>
          <a:noFill/>
          <a:ln/>
        </p:spPr>
        <p:txBody>
          <a:bodyPr wrap="square" lIns="0" tIns="0" rIns="0" bIns="0" rtlCol="0" anchor="ctr"/>
          <a:lstStyle/>
          <a:p>
            <a:pPr indent="0" marL="0">
              <a:buNone/>
            </a:pPr>
            <a:r>
              <a:rPr lang="en-US" sz="2100" b="1" dirty="0">
                <a:solidFill>
                  <a:srgbClr val="22242A"/>
                </a:solidFill>
                <a:latin typeface="Cambria" pitchFamily="34" charset="0"/>
                <a:ea typeface="Cambria" pitchFamily="34" charset="-122"/>
                <a:cs typeface="Cambria" pitchFamily="34" charset="-120"/>
              </a:rPr>
              <a:t>~100,800</a:t>
            </a:r>
            <a:endParaRPr lang="en-US" sz="2100" dirty="0"/>
          </a:p>
        </p:txBody>
      </p:sp>
      <p:sp>
        <p:nvSpPr>
          <p:cNvPr id="17" name="Text 14"/>
          <p:cNvSpPr txBox="1"/>
          <p:nvPr/>
        </p:nvSpPr>
        <p:spPr>
          <a:xfrm>
            <a:off x="7516368" y="4526280"/>
            <a:ext cx="4032504" cy="411480"/>
          </a:xfrm>
          <a:prstGeom prst="rect">
            <a:avLst/>
          </a:prstGeom>
          <a:noFill/>
          <a:ln/>
        </p:spPr>
        <p:txBody>
          <a:bodyPr wrap="square" lIns="0" tIns="0" rIns="0" bIns="0" rtlCol="0" anchor="t"/>
          <a:lstStyle/>
          <a:p>
            <a:pPr indent="0" marL="0">
              <a:lnSpc>
                <a:spcPts val="1100"/>
              </a:lnSpc>
              <a:buNone/>
            </a:pPr>
            <a:r>
              <a:rPr lang="en-US" sz="950" dirty="0">
                <a:solidFill>
                  <a:srgbClr val="5A5F66"/>
                </a:solidFill>
                <a:latin typeface="Calibri" pitchFamily="34" charset="0"/>
                <a:ea typeface="Calibri" pitchFamily="34" charset="-122"/>
                <a:cs typeface="Calibri" pitchFamily="34" charset="-120"/>
              </a:rPr>
              <a:t>Implied FSE in 2029 even on the growth trend — still ~13% below the 116,299 baseline</a:t>
            </a:r>
            <a:endParaRPr lang="en-US" sz="950" dirty="0"/>
          </a:p>
        </p:txBody>
      </p:sp>
      <p:sp>
        <p:nvSpPr>
          <p:cNvPr id="18" name="Shape 15"/>
          <p:cNvSpPr/>
          <p:nvPr/>
        </p:nvSpPr>
        <p:spPr>
          <a:xfrm>
            <a:off x="457200" y="5175504"/>
            <a:ext cx="11274552" cy="960120"/>
          </a:xfrm>
          <a:prstGeom prst="roundRect">
            <a:avLst>
              <a:gd name="adj" fmla="val 5714"/>
            </a:avLst>
          </a:prstGeom>
          <a:solidFill>
            <a:srgbClr val="FFFFFF"/>
          </a:solidFill>
          <a:ln w="9525">
            <a:solidFill>
              <a:srgbClr val="D9DCE0"/>
            </a:solidFill>
            <a:prstDash val="solid"/>
          </a:ln>
          <a:effectLst>
            <a:outerShdw sx="100000" sy="100000" kx="0" ky="0" algn="bl" rotWithShape="0" blurRad="76200" dist="381" dir="5400000">
              <a:srgbClr val="000000">
                <a:alpha val="8000"/>
              </a:srgbClr>
            </a:outerShdw>
          </a:effectLst>
        </p:spPr>
      </p:sp>
      <p:sp>
        <p:nvSpPr>
          <p:cNvPr id="19" name="Text 16"/>
          <p:cNvSpPr txBox="1"/>
          <p:nvPr/>
        </p:nvSpPr>
        <p:spPr>
          <a:xfrm>
            <a:off x="640080" y="5285232"/>
            <a:ext cx="2194560" cy="219456"/>
          </a:xfrm>
          <a:prstGeom prst="rect">
            <a:avLst/>
          </a:prstGeom>
          <a:noFill/>
          <a:ln/>
        </p:spPr>
        <p:txBody>
          <a:bodyPr wrap="square" lIns="0" tIns="0" rIns="0" bIns="0" rtlCol="0" anchor="ctr"/>
          <a:lstStyle/>
          <a:p>
            <a:pPr indent="0" marL="0">
              <a:buNone/>
            </a:pPr>
            <a:r>
              <a:rPr lang="en-US" sz="1100" b="1" spc="120" kern="0" dirty="0">
                <a:solidFill>
                  <a:srgbClr val="9E2A2B"/>
                </a:solidFill>
                <a:latin typeface="Calibri" pitchFamily="34" charset="0"/>
                <a:ea typeface="Calibri" pitchFamily="34" charset="-122"/>
                <a:cs typeface="Calibri" pitchFamily="34" charset="-120"/>
              </a:rPr>
              <a:t>ACTION REQUIRED</a:t>
            </a:r>
            <a:endParaRPr lang="en-US" sz="1100" dirty="0"/>
          </a:p>
        </p:txBody>
      </p:sp>
      <p:sp>
        <p:nvSpPr>
          <p:cNvPr id="20" name="Text 17"/>
          <p:cNvSpPr txBox="1"/>
          <p:nvPr/>
        </p:nvSpPr>
        <p:spPr>
          <a:xfrm>
            <a:off x="2926080" y="5266944"/>
            <a:ext cx="8622792" cy="777240"/>
          </a:xfrm>
          <a:prstGeom prst="rect">
            <a:avLst/>
          </a:prstGeom>
          <a:noFill/>
          <a:ln/>
        </p:spPr>
        <p:txBody>
          <a:bodyPr wrap="square" lIns="0" tIns="0" rIns="0" bIns="0" rtlCol="0" anchor="t"/>
          <a:lstStyle/>
          <a:p>
            <a:pPr indent="0" marL="0">
              <a:lnSpc>
                <a:spcPts val="1300"/>
              </a:lnSpc>
              <a:buNone/>
            </a:pPr>
            <a:r>
              <a:rPr lang="en-US" sz="1050" b="1" dirty="0">
                <a:solidFill>
                  <a:srgbClr val="22242A"/>
                </a:solidFill>
                <a:latin typeface="Calibri" pitchFamily="34" charset="0"/>
                <a:ea typeface="Calibri" pitchFamily="34" charset="-122"/>
                <a:cs typeface="Calibri" pitchFamily="34" charset="-120"/>
              </a:rPr>
              <a:t>Section 7 notice must be served no later than 30 days before the anniversary of the Order Term start date (31 December). </a:t>
            </a:r>
            <a:pPr indent="0" marL="0">
              <a:lnSpc>
                <a:spcPts val="1300"/>
              </a:lnSpc>
              <a:buNone/>
            </a:pPr>
            <a:r>
              <a:rPr lang="en-US" sz="1050" dirty="0">
                <a:solidFill>
                  <a:srgbClr val="22242A"/>
                </a:solidFill>
                <a:latin typeface="Calibri" pitchFamily="34" charset="0"/>
                <a:ea typeface="Calibri" pitchFamily="34" charset="-122"/>
                <a:cs typeface="Calibri" pitchFamily="34" charset="-120"/>
              </a:rPr>
              <a:t>To apply a reduction from FY2027, notice is due by ~30 November 2026 — which is the operative reason to accelerate the Flexera One integration. FSE cannot be validated without the Workday worker-category split; headcount alone is not an FSE count.</a:t>
            </a:r>
            <a:endParaRPr lang="en-US" sz="1050" dirty="0"/>
          </a:p>
        </p:txBody>
      </p:sp>
      <p:sp>
        <p:nvSpPr>
          <p:cNvPr id="21" name="Text 18"/>
          <p:cNvSpPr txBox="1"/>
          <p:nvPr/>
        </p:nvSpPr>
        <p:spPr>
          <a:xfrm>
            <a:off x="457200" y="6245352"/>
            <a:ext cx="11274552" cy="384048"/>
          </a:xfrm>
          <a:prstGeom prst="rect">
            <a:avLst/>
          </a:prstGeom>
          <a:noFill/>
          <a:ln/>
        </p:spPr>
        <p:txBody>
          <a:bodyPr wrap="square" lIns="0" tIns="0" rIns="0" bIns="0" rtlCol="0" anchor="ctr"/>
          <a:lstStyle/>
          <a:p>
            <a:pPr indent="0" marL="0">
              <a:lnSpc>
                <a:spcPts val="1000"/>
              </a:lnSpc>
              <a:buNone/>
            </a:pPr>
            <a:r>
              <a:rPr lang="en-US" sz="800" i="1" dirty="0">
                <a:solidFill>
                  <a:srgbClr val="8A9099"/>
                </a:solidFill>
                <a:latin typeface="Calibri" pitchFamily="34" charset="0"/>
                <a:ea typeface="Calibri" pitchFamily="34" charset="-122"/>
                <a:cs typeface="Calibri" pitchFamily="34" charset="-120"/>
              </a:rPr>
              <a:t>Sources: Workday Order Form 00484947.0 (FSE Calculation Table, FSE Expansion Table, Section 7). Actual worker counts from the Workday headcount dashboard, 2025 and 2026. FSE for actual and projected years is indicative, derived by applying the contract's blended category mix (116,299 ÷ 159,597 = 72.9%) pending the worker-category split.</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2026-09-02T11:31:40Z</dcterms:created>
  <dcterms:modified xsi:type="dcterms:W3CDTF">2026-09-02T11:31:40Z</dcterms:modified>
</cp:coreProperties>
</file>